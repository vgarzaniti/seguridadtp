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OWASP Top 10: 2025</a:t>
            </a:r>
          </a:p>
          <a:p>
            <a:pPr>
              <a:spcBef>
                <a:spcPts val="800"/>
              </a:spcBef>
              <a:defRPr sz="2000">
                <a:solidFill>
                  <a:srgbClr val="06B6D4"/>
                </a:solidFill>
              </a:defRPr>
            </a:pPr>
            <a:r>
              <a:t>Análisis de Riesgos Críticos en Aplicaciones Web &amp; Mitigación Práctica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Basado en el estudio de 2.8M de aplicaciones y 248 debilidades de software (CWE)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875520" cy="18288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PRESENTACIÓN GRUPAL (5 EXPOSITORES):</a:t>
            </a:r>
          </a:p>
          <a:p>
            <a:pPr>
              <a:spcBef>
                <a:spcPts val="400"/>
              </a:spcBef>
              <a:defRPr sz="1150">
                <a:solidFill>
                  <a:srgbClr val="CBD5E1"/>
                </a:solidFill>
              </a:defRPr>
            </a:pPr>
            <a:r>
              <a:t>• Orador 1: Introducción, Metodología y Estado de la Seguridad</a:t>
            </a:r>
            <a:br/>
            <a:r>
              <a:t>• Orador 2: A01 (Control de Acceso) &amp; A02 (Configuración Insegura)</a:t>
            </a:r>
            <a:br/>
            <a:r>
              <a:t>• Orador 3: A03 (Cadena de Suministro) &amp; A04 (Fallas Criptográficas)</a:t>
            </a:r>
            <a:br/>
            <a:r>
              <a:t>• Orador 4: A05 (Inyección) &amp; A06 (Diseño Inseguro)</a:t>
            </a:r>
            <a:br/>
            <a:r>
              <a:t>• Orador 5: A07 a A10 (Autenticación, Integridad, Logs, Excepciones) &amp; Demo del Simulador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B82F6"/>
                </a:solidFill>
              </a:defRPr>
            </a:pPr>
            <a:r>
              <a:t>EQUIPO COMPLETO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METODOLOGÍA DE EXPOSICIÓN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Agenda de la Presentación &amp; Distribución de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Orador 1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[Bloque Introductorio]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Qué es OWASP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Espacio del problema (Web/APIs)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Riesgo vs Vulnerabilidad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Metodología edición 2025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Comparativa 2021 vs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645920"/>
            <a:ext cx="20116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Orador 2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[Top 1 y 2]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A01: Broken Access Control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Absorción de SSRF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100% incidencia en apps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A02: Security Misconfiguration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Ascenso al puesto #2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Impacto estructural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20116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Orador 3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[Top 3 y 4]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A03: Software Supply Chain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Nueva categoría 2025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Caso SolarWinds &amp; SBOM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A04: Cryptographic Failures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Algoritmos obsoletos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Fugas de claves y TLS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20116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8B5CF6"/>
                </a:solidFill>
              </a:defRPr>
            </a:pPr>
            <a:r>
              <a:t>Orador 4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[Top 5 y 6]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A05: Injection (SQLi/XSS)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+44k CVEs históricos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Prepared Statements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A06: Insecure Design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Diseño vs Implementación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Modelado de Amenazas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645920"/>
            <a:ext cx="20116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Orador 5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[Top 7-10 + Demo]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A07: Authentication Failures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A08: Integridad Software/Datos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A09: Registro y Alertas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A10: Condiciones Excepcionales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Conclusiones Generales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Demo Simulador Web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6B6D4"/>
                </a:solidFill>
              </a:defRPr>
            </a:pPr>
            <a:r>
              <a:t>ORADOR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FUNDAMENTOS DE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Espacio del Problema: La Superficie de Ataque Moderna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6B6D4"/>
                </a:solidFill>
              </a:defRPr>
            </a:pPr>
            <a:r>
              <a:t>¿Qué es OWASP?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[Estándar Global]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Open Worldwide Application Security Project.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Organización global sin fines de lucro enfocada en la seguridad del software.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Top 10 es el estándar de facto adoptado por la industria internacional.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Objetivo: Educar a desarrolladores y arquitectos en mitigación preventiva.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El Espacio del Problema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[Ecosistema Actual]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Aplicaciones web acopladas a APIs y microservicios expuestos a Internet.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Dependencia masiva de paquetes de terceros y repositorios públicos.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Infraestructura cloud distribuida con pipelines CI/CD automatizados.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Cada capa adicional expande exponencialmente la superficie de ataque.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Riesgo vs Vulnerabilidad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[Diferenciación Clave]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Vulnerabilidad: Debilidad o fallo técnico en el código o configuración.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Riesgo = Vector de Ataque + Facilidad de Explotación + Impacto al Negocio.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OWASP Top 10 prioriza Riesgos: el daño real potencial a datos y operaciones.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No todo bug técnico representa un riesgo crítico.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6B6D4"/>
                </a:solidFill>
              </a:defRPr>
            </a:pPr>
            <a:r>
              <a:t>ORADOR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METODOLOGÍA Y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Construcción del OWASP Top 10:2025 y Grandes Cambios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Metodología Basada en Evidencia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[Datos Duros]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Evaluación masiva: Más de 2.8 millones de aplicaciones auditadas.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Fuentes líderes de telemetría: Veracode, Sonar, Contrast Security, etc.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Análisis inicial de 589 CWEs agrupadas en 248 debilidades finales.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8 categorías surgieron de datos empíricos y 2 por encuesta comunitaria.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Cambio de paradigma: Priorización de la CAUSA RAÍZ por sobre los síntomas.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Grandes Novedades frente a 2021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[Evolución de Amenazas]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A01 (Broken Access Control) se mantiene #1 y absorbe a SSRF.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A02 (Security Misconfiguration) asciende drásticamente del puesto 5 al 2.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NUEVA: A03 Software Supply Chain Failures (refleja el riesgo en compilación y CI/CD).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A04 (Criptografía) y A05 (Inyección) bajan puestos relativos ante fallas arquitectónicas.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NUEVA: A10 Mishandling of Exceptional Conditions (mal manejo de errores y fallas abiertas).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EF4444"/>
                </a:solidFill>
              </a:defRPr>
            </a:pPr>
            <a:r>
              <a:t>ORADOR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 #1 EN OWASP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A01: Control de Acceso Defectuoso (Broken Access Control)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Contexto y Alcance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[100% de Incidencia]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Mantiene el 1er puesto de forma absoluta.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100% de las aplicaciones analizadas tuvo alguna vulnerabilidad de control de acceso.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Ocurre cuando un usuario puede actuar fuera de los límites de sus permisos asignados.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En 2025 absorbe SSRF (Server-Side Request Forgery).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Causas Frecuentes &amp; IDOR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[Vectores Típicos]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Insecure Direct Object References (IDOR): cambiar un ID en la URL (?acct=102).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APIs sin validación en verbos POST, PUT y DELETE.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Violación del Principio de Mínimo Privilegio.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Tokens JWT o cookies manipuladas para elevar privilegios.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Controles delegados únicamente al navegador/frontend.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Estrategia de Mitigación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[Defensa en Profundidad]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Validación estricta de propiedad de recursos en el backend (RBAC / ABAC).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Deshabilitar navegación de directorios y forzar denegación por defecto.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Pruebas unitarias e integración de control de acceso en pipelines CI/CD.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Registro de auditoría ante cualquier intento de elevación de privilegios.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EF4444"/>
                </a:solidFill>
              </a:defRPr>
            </a:pPr>
            <a:r>
              <a:t>ORADOR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ASCENSO AL PUESTO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A02: Configuración de Seguridad Incorrecta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¿Por qué subió al Puesto #2?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[Falla Estructural]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Estaba en el puesto #5 en 2021; su escalada refleja la complejidad cloud.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100% de aplicaciones evaluadas tenían configuraciones inseguras.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comportamiento real del sistema depende más de su configuración que de su código fuente.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Los entornos de nube multiplican la posibilidad de configuraciones erróneas.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Causas Frecuentes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[Errores Comunes]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Cuentas y contraseñas predeterminadas sin modificar.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Puertos, consolas de administración o páginas de prueba habilitadas.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Headers de seguridad HTTP ausentes (CSP, HSTS, X-Content-Type).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Permisos excesivos en buckets y servicios cloud.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Mensajes de error verbosos que exponen stack traces y versiones.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Mitigación y Detección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[Línea Base Segura]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Guías de endurecimiento (Hardening) basadas en estándares NIST y CIS.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Infraestructura como Código (IaC) auditada de forma reproducible.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Deshabilitar características y servicios innecesarios en imágenes Docker.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Verificaciones automatizadas comparando contra una línea base segura.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59E0B"/>
                </a:solidFill>
              </a:defRPr>
            </a:pPr>
            <a:r>
              <a:t>ORADOR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NUEVA CATEGORÍA 2025 (#3)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A03: Fallas en la Cadena de Suministro de Software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Evolución de la Amenaza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[Nueva Categoría]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Reemplaza y amplía 'componentes vulnerables y desactualizados'.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Abarca todo el ciclo: herramientas de build, repositorios, dependencias y CI/CD.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Top #1 en la votación comunitaria de expertos por su impacto devastador.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Los atacantes ya no atacan tu app: atacan las dependencias de tus dependencias.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Caso Real: SolarWinds (2019)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[Impacto Sistémico]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Atacantes comprometieron el pipeline de compilación de la empresa.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malware se distribuyó firmado y certificado a clientes legítimos.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Afectó a más de 18.000 organizaciones globales, incluyendo el gobierno de EEUU y Microsoft.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Demostró que una sola dependencia comprometida vulnera todo un ecosistema.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Controles y Mitigación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[Visibilidad de Código]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Generación y monitoreo continuo de SBOM (Software Bill of Materials).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Herramientas activas: OWASP Dependency-Track y Dependency-Check.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Consultas periódicas a bases de vulnerabilidades (NVD y OSV).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Segregación estricta de funciones y protección del pipeline de CI/CD.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59E0B"/>
                </a:solidFill>
              </a:defRPr>
            </a:pPr>
            <a:r>
              <a:t>ORADOR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 #4 EN OWASP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A04: Fallas Criptográficas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Alcance del Problema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[Protección de Datos]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Anteriormente conocida como Exposición de Datos Sensibles.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Agrupa problemas de ausencia de cifrado, cifrado débil o filtración de claves.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Punto crítico: generadores de números pseudoaleatorios inadecuados.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Resultado habitual: compromiso total de confidencialidad de datos.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Causas Frecuentes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[Errores Clave]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Uso de algoritmos obsoletos o rotos (ej: MD5, SHA1).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Tráfico en texto plano sin forzar HTTPS/TLS en toda la aplicación.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Almacenamiento de contraseñas con algoritmos simples o sin salt.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Claves de cifrado harcodeadas en repositorios de Git públicos o privados.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Falta de políticas de rotación de claves criptográficas.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Recomendaciones Técnicas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[Buenas Prácticas]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TLS configurado y forzado en todas las rutas con certificados válidos.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Clasificación formal de datos según su sensibilidad en reposo y en tránsito.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Funciones de hash diseñadas para contraseñas: Argon2, bcrypt o PBKDF2.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Gestores de secretos corporativos (HashiCorp Vault, AWS Secrets Manager).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8B5CF6"/>
                </a:solidFill>
              </a:defRPr>
            </a:pPr>
            <a:r>
              <a:t>ORADOR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 #5 — RÉCORD DE CVES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A05: Inyección (SQL Injection &amp; XSS)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8B5CF6"/>
                </a:solidFill>
              </a:defRPr>
            </a:pPr>
            <a:r>
              <a:t>Magnitud de la Inyección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[+44k CVEs]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Mayor volumen histórico de CVEs: más de 44.000 vulnerabilidades reportadas.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XSS (Cross-Site Scripting): Alta frecuencia, más de 30.000 casos.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SQLi (Inyección SQL): Menor frecuencia pero con impacto devastador (14.000 casos).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Ocurre cuando datos no confiables se ejecutan como instrucciones de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Causa Raíz: Concatenación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[Mecanismo del Ataque]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Construcción de consultas SQL mediante concatenación directa de strings.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Ejemplo: 'SELECT * FROM users WHERE user = ' + input + ...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Payloads booleanos como ' OR '1'='1 alteran el AST del intérprete SQL.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Se anulan las condiciones de autenticación, otorgando acceso como administrador.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Solución: Prepared Statements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[Mitigación Definitiva]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Consultas parametrizadas obligatorias (los parámetros viajan como datos, no código).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Validación y saneamiento de entradas con esquemas estrictos (Zod, Joi).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Integración de análisis estático y dinámico (SAST, DAST, IAST) en CI/CD.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Evitar consultas 'raw' dinámicas incluso al utilizar frameworks u ORMs.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8B5CF6"/>
                </a:solidFill>
              </a:defRPr>
            </a:pPr>
            <a:r>
              <a:t>ORADOR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 #6 EN OWASP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A06: Diseño Inseguro (Insecure Design)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8B5CF6"/>
                </a:solidFill>
              </a:defRPr>
            </a:pPr>
            <a:r>
              <a:t>Diseño vs. Implementación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[Conceptos &gt; Código]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Principio clave de OWASP: Separar el diseño de la implementación.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Un diseño inseguro no se soluciona con una implementación perfecta.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Si los controles no fueron concebidos desde la arquitectura, el código fallará.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Diferencia: Un bug es un error de código; una falla de diseño es una ausencia de lógica.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Ejemplo Real: Lógica de Negocio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[Falla de Lógica]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Caso del sistema de cine: descuentos grupales a partir de 15 personas.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Atacante reserva 600 asientos en todas las salas con pocas peticiones.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Causa un daño financiero inmenso sin romper ninguna validación técnica de código.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Falla de diseño: no contemplar límites de tasa o retención temporal por usuario.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Enfoque Preventivo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[Arquitectura Segura]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Modelado de Amenazas (Threat Modeling) en las fases tempranas del ciclo.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Requerimientos de seguridad explícitos en las historias de usuario.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Diseño de casos de abuso (Abuse Cases) junto a los casos de uso habituales.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Implementación del marco de madurez OWASP SAMM.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</a:defRPr>
            </a:pPr>
            <a:r>
              <a:t>ORADOR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PUESTOS #7 Y #8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A07: Autenticación &amp; A08: Integridad de Software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F59E0B"/>
                </a:solidFill>
              </a:defRPr>
            </a:pPr>
            <a:r>
              <a:t>A07: Fallas de Autenticación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[Puesto #7]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Ocurre cuando el sistema reconoce erróneamente a un usuario ilegítimo.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Ataques típicos: Credential Stuffing y Fuerza Bruta automatizada.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El problema humano: de 'Winter2025' a 'Winter2026' tras filtraciones.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Sin rate limiting, el backend opera como un 'oráculo' para el botnet.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Mitigación: Pautas NIST 800-63b, bloqueo por intentos y MFA obligatorio.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A08: Fallas de Integridad de Software y Datos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[Puesto #8]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Asumir que código o artefactos externos son confiables sin verificación.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Pipelines que descargan módulos sin verificar firma criptográfica.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Actualizaciones automáticas aplicadas a ciegas.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Deserialización insegura: manipulación de objetos para ejecutar código remoto.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Mitigación: Firmas digitales, repositorios espejo auditados y escáneres estáticos.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10B981"/>
                </a:solidFill>
              </a:defRPr>
            </a:pPr>
            <a:r>
              <a:t>ORADOR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PUESTOS #9 Y #10 (NOVEDAD)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A09: Registro y Alertas &amp; A10: Condiciones Excepcionales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3B82F6"/>
                </a:solidFill>
              </a:defRPr>
            </a:pPr>
            <a:r>
              <a:t>A09: Fallas de Registro y Alertas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[Puesto #9]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Evolución clave: Pasó de llamarse 'monitoreo' a 'alertas'.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Tener logs sin alertas no sirve: ataques persisten años inadvertidos.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Caso Real: Filtración de aseguradora de salud infantil durante 7 años (3.5M de niños).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Mitigación: Pila ELK, honeytokens (trampas con cero falsos positivos) y plan NIST 800-61.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EF4444"/>
                </a:solidFill>
              </a:defRPr>
            </a:pPr>
            <a:r>
              <a:t>A10: Mal Manejo de Condiciones Excepcionales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[Puesto #10 (Nueva)]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NUEVA CATEGORÍA EN 2025: 24 debilidades enfocadas en errores.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Falla abierta: el sistema falla dejando datos o permisos expuestos.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Ejemplo: Transacción bancaria en 3 pasos que no ejecuta rollback ante cortes.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Mitigación: Manejo centralizado global de excepciones, idempotencia y límites de cuota.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6B6D4"/>
                </a:solidFill>
              </a:defRPr>
            </a:pPr>
            <a:r>
              <a:t>EQUIPO COMPLETO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365760"/>
            <a:ext cx="3200400" cy="36576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CIERRE Y LABORATORIO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Conclusiones del Estudio &amp; Demostración Práctica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6B6D4"/>
                </a:solidFill>
              </a:defRPr>
            </a:pPr>
            <a:r>
              <a:t>Conclusiones de la Monografía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[Pilares Clave]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1. La seguridad no se añade al final: debe ser parte del diseño inicial.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2. El Top 10:2025 destaca que el código bien escrito puede ser vulnerado por infraestructura y cadena de suministro.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3. La automatización ofensiva exige automatización defensiva (SAST, DAST, SBOM y MFA).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4. Enfoque integral: Diseño Seguro + Automatización CI/CD + Monitoreo con Alertas.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31D33"/>
          </a:solidFill>
          <a:ln w="12700">
            <a:solidFill>
              <a:srgbClr val="24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10B981"/>
                </a:solidFill>
              </a:defRPr>
            </a:pPr>
            <a:r>
              <a:t>Demostración del Simulador Web (SeguridadTP)</a:t>
            </a:r>
          </a:p>
          <a:p>
            <a:pPr>
              <a:spcAft>
                <a:spcPts val="800"/>
              </a:spcAft>
              <a:defRPr sz="950" b="1">
                <a:solidFill>
                  <a:srgbClr val="94A3B8"/>
                </a:solidFill>
              </a:defRPr>
            </a:pPr>
            <a:r>
              <a:t>[Simulación en Vivo]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Laboratorio interactivo desarrollado para acompañar la monografía: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• Demo 1: Explotación y mitigación de IDOR (A01 - Broken Access Control).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• Demo 2: Bypass de autenticación con SQL Injection y Prepared Statements (A05).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• Demo 3: Simulación de botnet de fuerza bruta, bloqueo NIST y MFA (A07).</a:t>
            </a:r>
          </a:p>
          <a:p>
            <a:pPr>
              <a:spcAft>
                <a:spcPts val="600"/>
              </a:spcAft>
              <a:defRPr sz="1200">
                <a:solidFill>
                  <a:srgbClr val="CBD5E1"/>
                </a:solidFill>
              </a:defRPr>
            </a:pPr>
            <a:r>
              <a:t>• Disponible en: https://github.com/Vgarzaniti/SeguridadTP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