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9728" cy="43891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10241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1F5F9"/>
                </a:solidFill>
              </a:defRPr>
            </a:pPr>
            <a:r>
              <a:t>OWASP Top 10:2025</a:t>
            </a:r>
          </a:p>
          <a:p>
            <a:pPr>
              <a:spcBef>
                <a:spcPts val="800"/>
              </a:spcBef>
              <a:defRPr sz="2000">
                <a:solidFill>
                  <a:srgbClr val="06B6D4"/>
                </a:solidFill>
              </a:defRPr>
            </a:pPr>
            <a:r>
              <a:t>Análisis Exhaustivo de Riesgos en Aplicaciones Web &amp; Mitigación Práctica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</a:defRPr>
            </a:pPr>
            <a:r>
              <a:t>Monografía Técnica y Demostración Interactiva sobre 2.8 Millones de Aplicaciones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474720"/>
            <a:ext cx="10241280" cy="2103120"/>
          </a:xfrm>
          <a:prstGeom prst="roundRect">
            <a:avLst/>
          </a:prstGeom>
          <a:solidFill>
            <a:srgbClr val="131D33"/>
          </a:solidFill>
          <a:ln w="12700">
            <a:solidFill>
              <a:srgbClr val="24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28600"/>
          <a:lstStyle/>
          <a:p>
            <a:pPr algn="ctr">
              <a:spcAft>
                <a:spcPts val="1200"/>
              </a:spcAft>
              <a:defRPr sz="1100" b="1">
                <a:solidFill>
                  <a:srgbClr val="F59E0B"/>
                </a:solidFill>
              </a:defRPr>
            </a:pPr>
            <a:r>
              <a:t>INTEGRANTES DEL EQUIPO: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25880" y="4297680"/>
            <a:ext cx="1874519" cy="731520"/>
          </a:xfrm>
          <a:prstGeom prst="roundRect">
            <a:avLst/>
          </a:prstGeom>
          <a:solidFill>
            <a:srgbClr val="182541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Valentín Garzaniti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39" y="4297680"/>
            <a:ext cx="1874519" cy="731520"/>
          </a:xfrm>
          <a:prstGeom prst="roundRect">
            <a:avLst/>
          </a:prstGeom>
          <a:solidFill>
            <a:srgbClr val="182541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Romeo Monfroglio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57800" y="4297680"/>
            <a:ext cx="1874519" cy="731520"/>
          </a:xfrm>
          <a:prstGeom prst="roundRect">
            <a:avLst/>
          </a:prstGeom>
          <a:solidFill>
            <a:srgbClr val="182541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Valentino Laure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59" y="4297680"/>
            <a:ext cx="1874519" cy="731520"/>
          </a:xfrm>
          <a:prstGeom prst="roundRect">
            <a:avLst/>
          </a:prstGeom>
          <a:solidFill>
            <a:srgbClr val="182541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Joaquín Caputto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89719" y="4297680"/>
            <a:ext cx="1874519" cy="731520"/>
          </a:xfrm>
          <a:prstGeom prst="roundRect">
            <a:avLst/>
          </a:prstGeom>
          <a:solidFill>
            <a:srgbClr val="182541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Mauro Lista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108960" cy="320040"/>
          </a:xfrm>
          <a:prstGeom prst="roundRect">
            <a:avLst/>
          </a:prstGeom>
          <a:solidFill>
            <a:srgbClr val="131D33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B82F6"/>
                </a:solidFill>
              </a:defRPr>
            </a:pPr>
            <a:r>
              <a:t>DATOS Y ESTADÍSTICAS GLOBALES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Metodología y Alcance: ¿Cómo se construyó la Edición 2025?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4480560"/>
          </a:xfrm>
          <a:prstGeom prst="roundRect">
            <a:avLst/>
          </a:prstGeom>
          <a:solidFill>
            <a:srgbClr val="131D33"/>
          </a:solidFill>
          <a:ln w="12700">
            <a:solidFill>
              <a:srgbClr val="24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800"/>
              </a:spcAft>
              <a:defRPr sz="3600" b="1">
                <a:solidFill>
                  <a:srgbClr val="06B6D4"/>
                </a:solidFill>
              </a:defRPr>
            </a:pPr>
            <a:r>
              <a:t>2.8M+</a:t>
            </a:r>
          </a:p>
          <a:p>
            <a:pPr>
              <a:spcAft>
                <a:spcPts val="1200"/>
              </a:spcAft>
              <a:defRPr sz="1300" b="1">
                <a:solidFill>
                  <a:srgbClr val="F1F5F9"/>
                </a:solidFill>
              </a:defRPr>
            </a:pPr>
            <a:r>
              <a:t>Aplicaciones Analizadas</a:t>
            </a:r>
          </a:p>
          <a:p>
            <a:pPr>
              <a:lnSpc>
                <a:spcPct val="125000"/>
              </a:lnSpc>
              <a:defRPr sz="1100">
                <a:solidFill>
                  <a:srgbClr val="94A3B8"/>
                </a:solidFill>
              </a:defRPr>
            </a:pPr>
            <a:r>
              <a:t>Estudio masivo provisto por firmas líderes como Veracode, Sonar y Contrast Security.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645920"/>
            <a:ext cx="2560320" cy="4480560"/>
          </a:xfrm>
          <a:prstGeom prst="roundRect">
            <a:avLst/>
          </a:prstGeom>
          <a:solidFill>
            <a:srgbClr val="131D33"/>
          </a:solidFill>
          <a:ln w="12700">
            <a:solidFill>
              <a:srgbClr val="24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800"/>
              </a:spcAft>
              <a:defRPr sz="3600" b="1">
                <a:solidFill>
                  <a:srgbClr val="3B82F6"/>
                </a:solidFill>
              </a:defRPr>
            </a:pPr>
            <a:r>
              <a:t>248</a:t>
            </a:r>
          </a:p>
          <a:p>
            <a:pPr>
              <a:spcAft>
                <a:spcPts val="1200"/>
              </a:spcAft>
              <a:defRPr sz="1300" b="1">
                <a:solidFill>
                  <a:srgbClr val="F1F5F9"/>
                </a:solidFill>
              </a:defRPr>
            </a:pPr>
            <a:r>
              <a:t>Debilidades CWE Evaluadas</a:t>
            </a:r>
          </a:p>
          <a:p>
            <a:pPr>
              <a:lnSpc>
                <a:spcPct val="125000"/>
              </a:lnSpc>
              <a:defRPr sz="1100">
                <a:solidFill>
                  <a:srgbClr val="94A3B8"/>
                </a:solidFill>
              </a:defRPr>
            </a:pPr>
            <a:r>
              <a:t>Agrupadas a partir de 589 debilidades iniciales hacia 10 categorías finales de riesgo.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2560320" cy="4480560"/>
          </a:xfrm>
          <a:prstGeom prst="roundRect">
            <a:avLst/>
          </a:prstGeom>
          <a:solidFill>
            <a:srgbClr val="131D33"/>
          </a:solidFill>
          <a:ln w="12700">
            <a:solidFill>
              <a:srgbClr val="24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800"/>
              </a:spcAft>
              <a:defRPr sz="3600" b="1">
                <a:solidFill>
                  <a:srgbClr val="F59E0B"/>
                </a:solidFill>
              </a:defRPr>
            </a:pPr>
            <a:r>
              <a:t>2</a:t>
            </a:r>
          </a:p>
          <a:p>
            <a:pPr>
              <a:spcAft>
                <a:spcPts val="1200"/>
              </a:spcAft>
              <a:defRPr sz="1300" b="1">
                <a:solidFill>
                  <a:srgbClr val="F1F5F9"/>
                </a:solidFill>
              </a:defRPr>
            </a:pPr>
            <a:r>
              <a:t>Nuevas Categorías en 2025</a:t>
            </a:r>
          </a:p>
          <a:p>
            <a:pPr>
              <a:lnSpc>
                <a:spcPct val="125000"/>
              </a:lnSpc>
              <a:defRPr sz="1100">
                <a:solidFill>
                  <a:srgbClr val="94A3B8"/>
                </a:solidFill>
              </a:defRPr>
            </a:pPr>
            <a:r>
              <a:t>Fallas en Cadena de Suministro (A03) y Mal Manejo de Excepciones (A10).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645920"/>
            <a:ext cx="2560320" cy="4480560"/>
          </a:xfrm>
          <a:prstGeom prst="roundRect">
            <a:avLst/>
          </a:prstGeom>
          <a:solidFill>
            <a:srgbClr val="131D33"/>
          </a:solidFill>
          <a:ln w="12700">
            <a:solidFill>
              <a:srgbClr val="24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800"/>
              </a:spcAft>
              <a:defRPr sz="3600" b="1">
                <a:solidFill>
                  <a:srgbClr val="EF4444"/>
                </a:solidFill>
              </a:defRPr>
            </a:pPr>
            <a:r>
              <a:t>100%</a:t>
            </a:r>
          </a:p>
          <a:p>
            <a:pPr>
              <a:spcAft>
                <a:spcPts val="1200"/>
              </a:spcAft>
              <a:defRPr sz="1300" b="1">
                <a:solidFill>
                  <a:srgbClr val="F1F5F9"/>
                </a:solidFill>
              </a:defRPr>
            </a:pPr>
            <a:r>
              <a:t>Prevalencia en Puesto #1 y #2</a:t>
            </a:r>
          </a:p>
          <a:p>
            <a:pPr>
              <a:lnSpc>
                <a:spcPct val="125000"/>
              </a:lnSpc>
              <a:defRPr sz="1100">
                <a:solidFill>
                  <a:srgbClr val="94A3B8"/>
                </a:solidFill>
              </a:defRPr>
            </a:pPr>
            <a:r>
              <a:t>El total de aplicaciones probadas presentó fallas en control de acceso y configuración.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108960" cy="320040"/>
          </a:xfrm>
          <a:prstGeom prst="roundRect">
            <a:avLst/>
          </a:prstGeom>
          <a:solidFill>
            <a:srgbClr val="131D33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CONCEPTOS FUNDAMENTALES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Fundamentos Arquitectónicos: Riesgo vs. Vulnerabilidad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1280160"/>
          </a:xfrm>
          <a:prstGeom prst="roundRect">
            <a:avLst/>
          </a:prstGeom>
          <a:solidFill>
            <a:srgbClr val="18254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365760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FÓRMULA CONCEPTUAL DE EVALUACIÓN OWASP:</a:t>
            </a:r>
          </a:p>
          <a:p>
            <a:pPr>
              <a:spcBef>
                <a:spcPts val="400"/>
              </a:spcBef>
              <a:defRPr sz="1600" b="1">
                <a:solidFill>
                  <a:srgbClr val="F1F5F9"/>
                </a:solidFill>
              </a:defRPr>
            </a:pPr>
            <a:r>
              <a:t>RIESGO = Agente Atacante + Vector de Entrada + Facilidad de Explotación + Daño al Negocio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5212080" cy="3200400"/>
          </a:xfrm>
          <a:prstGeom prst="roundRect">
            <a:avLst/>
          </a:prstGeom>
          <a:solidFill>
            <a:srgbClr val="131D33"/>
          </a:solidFill>
          <a:ln>
            <a:solidFill>
              <a:srgbClr val="24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spcAft>
                <a:spcPts val="800"/>
              </a:spcAft>
              <a:defRPr sz="1400" b="1">
                <a:solidFill>
                  <a:srgbClr val="F59E0B"/>
                </a:solidFill>
              </a:defRPr>
            </a:pPr>
            <a:r>
              <a:t>VULNERABILIDAD (Falla Técnica)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Debilidad interna en el código fuente, configuración o diseño del sistema.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Existe de forma pasiva aunque nadie la esté explotando en este momento.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Ejemplo: Un puerto innecesario abierto en un contenedor o una variable sin sanear.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017520"/>
            <a:ext cx="5212080" cy="3200400"/>
          </a:xfrm>
          <a:prstGeom prst="roundRect">
            <a:avLst/>
          </a:prstGeom>
          <a:solidFill>
            <a:srgbClr val="131D33"/>
          </a:solidFill>
          <a:ln>
            <a:solidFill>
              <a:srgbClr val="24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spcAft>
                <a:spcPts val="800"/>
              </a:spcAft>
              <a:defRPr sz="1400" b="1">
                <a:solidFill>
                  <a:srgbClr val="EF4444"/>
                </a:solidFill>
              </a:defRPr>
            </a:pPr>
            <a:r>
              <a:t>RIESGO (Impacto Real)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Mide la probabilidad y severidad de que un atacante comprometa activos críticos.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El Top 10:2025 prioriza causas raíz: atacar el problema de fondo, no solo el bug sintáctico.</a:t>
            </a:r>
          </a:p>
          <a:p>
            <a:pPr>
              <a:spcAft>
                <a:spcPts val="600"/>
              </a:spcAft>
              <a:defRPr sz="1150">
                <a:solidFill>
                  <a:srgbClr val="CBD5E1"/>
                </a:solidFill>
              </a:defRPr>
            </a:pPr>
            <a:r>
              <a:t>• Las aplicaciones web modernas integran APIs, Cloud y pipelines CI/CD que maximizan el riesgo.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108960" cy="320040"/>
          </a:xfrm>
          <a:prstGeom prst="roundRect">
            <a:avLst/>
          </a:prstGeom>
          <a:solidFill>
            <a:srgbClr val="131D33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B82F6"/>
                </a:solidFill>
              </a:defRPr>
            </a:pPr>
            <a:r>
              <a:t>EVOLUCIÓN Y CAMBIOS DE PUESTO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El Mapa Completo: Tabla Comparativa OWASP Top 10 (2025 vs. 2021)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54480"/>
          <a:ext cx="1069848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4114800"/>
                <a:gridCol w="2926080"/>
                <a:gridCol w="2651760"/>
              </a:tblGrid>
              <a:tr h="42394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8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</a:defRPr>
                      </a:pPr>
                      <a:r>
                        <a:t>Categoría (Edición 2025)</a:t>
                      </a:r>
                    </a:p>
                  </a:txBody>
                  <a:tcPr>
                    <a:solidFill>
                      <a:srgbClr val="18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</a:defRPr>
                      </a:pPr>
                      <a:r>
                        <a:t>Cambio frente a 2021</a:t>
                      </a:r>
                    </a:p>
                  </a:txBody>
                  <a:tcPr>
                    <a:solidFill>
                      <a:srgbClr val="18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</a:defRPr>
                      </a:pPr>
                      <a:r>
                        <a:t>Naturaleza del Riesgo</a:t>
                      </a:r>
                    </a:p>
                  </a:txBody>
                  <a:tcPr>
                    <a:solidFill>
                      <a:srgbClr val="182541"/>
                    </a:solidFill>
                  </a:tcPr>
                </a:tc>
              </a:tr>
              <a:tr h="423949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EF4444"/>
                          </a:solidFill>
                        </a:defRPr>
                      </a:pPr>
                      <a:r>
                        <a:t>A01</a:t>
                      </a:r>
                    </a:p>
                  </a:txBody>
                  <a:tcPr>
                    <a:solidFill>
                      <a:srgbClr val="131D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CBD5E1"/>
                          </a:solidFill>
                        </a:defRPr>
                      </a:pPr>
                      <a:r>
                        <a:t>Broken Access Control (Control de Acceso)</a:t>
                      </a:r>
                    </a:p>
                  </a:txBody>
                  <a:tcPr>
                    <a:solidFill>
                      <a:srgbClr val="131D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CBD5E1"/>
                          </a:solidFill>
                        </a:defRPr>
                      </a:pPr>
                      <a:r>
                        <a:t>Sigue #1, absorbe SSRF</a:t>
                      </a:r>
                    </a:p>
                  </a:txBody>
                  <a:tcPr>
                    <a:solidFill>
                      <a:srgbClr val="131D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F4444"/>
                          </a:solidFill>
                        </a:defRPr>
                      </a:pPr>
                      <a:r>
                        <a:t>100% de apps afectadas</a:t>
                      </a:r>
                    </a:p>
                  </a:txBody>
                  <a:tcPr>
                    <a:solidFill>
                      <a:srgbClr val="131D33"/>
                    </a:solidFill>
                  </a:tcPr>
                </a:tc>
              </a:tr>
              <a:tr h="423949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EF4444"/>
                          </a:solidFill>
                        </a:defRPr>
                      </a:pPr>
                      <a:r>
                        <a:t>A02</a:t>
                      </a:r>
                    </a:p>
                  </a:txBody>
                  <a:tcPr>
                    <a:solidFill>
                      <a:srgbClr val="131D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CBD5E1"/>
                          </a:solidFill>
                        </a:defRPr>
                      </a:pPr>
                      <a:r>
                        <a:t>Security Misconfiguration (Configuración)</a:t>
                      </a:r>
                    </a:p>
                  </a:txBody>
                  <a:tcPr>
                    <a:solidFill>
                      <a:srgbClr val="131D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CBD5E1"/>
                          </a:solidFill>
                        </a:defRPr>
                      </a:pPr>
                      <a:r>
                        <a:t>Subió del puesto 5 al 2</a:t>
                      </a:r>
                    </a:p>
                  </a:txBody>
                  <a:tcPr>
                    <a:solidFill>
                      <a:srgbClr val="131D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F4444"/>
                          </a:solidFill>
                        </a:defRPr>
                      </a:pPr>
                      <a:r>
                        <a:t>Complejidad Cloud / Defaults</a:t>
                      </a:r>
                    </a:p>
                  </a:txBody>
                  <a:tcPr>
                    <a:solidFill>
                      <a:srgbClr val="131D33"/>
                    </a:solidFill>
                  </a:tcPr>
                </a:tc>
              </a:tr>
              <a:tr h="423949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59E0B"/>
                          </a:solidFill>
                        </a:defRPr>
                      </a:pPr>
                      <a:r>
                        <a:t>A03</a:t>
                      </a:r>
                    </a:p>
                  </a:txBody>
                  <a:tcPr>
                    <a:solidFill>
                      <a:srgbClr val="131D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CBD5E1"/>
                          </a:solidFill>
                        </a:defRPr>
                      </a:pPr>
                      <a:r>
                        <a:t>Software Supply Chain Failures</a:t>
                      </a:r>
                    </a:p>
                  </a:txBody>
                  <a:tcPr>
                    <a:solidFill>
                      <a:srgbClr val="131D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CBD5E1"/>
                          </a:solidFill>
                        </a:defRPr>
                      </a:pPr>
                      <a:r>
                        <a:t>NUEVA en 2025 (Ex-Componentes)</a:t>
                      </a:r>
                    </a:p>
                  </a:txBody>
                  <a:tcPr>
                    <a:solidFill>
                      <a:srgbClr val="131D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59E0B"/>
                          </a:solidFill>
                        </a:defRPr>
                      </a:pPr>
                      <a:r>
                        <a:t>Compilación / CI/CD / SBOM</a:t>
                      </a:r>
                    </a:p>
                  </a:txBody>
                  <a:tcPr>
                    <a:solidFill>
                      <a:srgbClr val="131D33"/>
                    </a:solidFill>
                  </a:tcPr>
                </a:tc>
              </a:tr>
              <a:tr h="423949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3B82F6"/>
                          </a:solidFill>
                        </a:defRPr>
                      </a:pPr>
                      <a:r>
                        <a:t>A04</a:t>
                      </a:r>
                    </a:p>
                  </a:txBody>
                  <a:tcPr>
                    <a:solidFill>
                      <a:srgbClr val="131D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CBD5E1"/>
                          </a:solidFill>
                        </a:defRPr>
                      </a:pPr>
                      <a:r>
                        <a:t>Cryptographic Failures (Fallas Criptográficas)</a:t>
                      </a:r>
                    </a:p>
                  </a:txBody>
                  <a:tcPr>
                    <a:solidFill>
                      <a:srgbClr val="131D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CBD5E1"/>
                          </a:solidFill>
                        </a:defRPr>
                      </a:pPr>
                      <a:r>
                        <a:t>Bajó del puesto 2 al 4</a:t>
                      </a:r>
                    </a:p>
                  </a:txBody>
                  <a:tcPr>
                    <a:solidFill>
                      <a:srgbClr val="131D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B82F6"/>
                          </a:solidFill>
                        </a:defRPr>
                      </a:pPr>
                      <a:r>
                        <a:t>TLS / Claves / Random débil</a:t>
                      </a:r>
                    </a:p>
                  </a:txBody>
                  <a:tcPr>
                    <a:solidFill>
                      <a:srgbClr val="131D33"/>
                    </a:solidFill>
                  </a:tcPr>
                </a:tc>
              </a:tr>
              <a:tr h="423949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8B5CF6"/>
                          </a:solidFill>
                        </a:defRPr>
                      </a:pPr>
                      <a:r>
                        <a:t>A05</a:t>
                      </a:r>
                    </a:p>
                  </a:txBody>
                  <a:tcPr>
                    <a:solidFill>
                      <a:srgbClr val="131D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CBD5E1"/>
                          </a:solidFill>
                        </a:defRPr>
                      </a:pPr>
                      <a:r>
                        <a:t>Injection (Inyección SQL, XSS, etc.)</a:t>
                      </a:r>
                    </a:p>
                  </a:txBody>
                  <a:tcPr>
                    <a:solidFill>
                      <a:srgbClr val="131D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CBD5E1"/>
                          </a:solidFill>
                        </a:defRPr>
                      </a:pPr>
                      <a:r>
                        <a:t>Bajó del puesto 3 al 5</a:t>
                      </a:r>
                    </a:p>
                  </a:txBody>
                  <a:tcPr>
                    <a:solidFill>
                      <a:srgbClr val="131D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8B5CF6"/>
                          </a:solidFill>
                        </a:defRPr>
                      </a:pPr>
                      <a:r>
                        <a:t>+44.000 CVEs históricos</a:t>
                      </a:r>
                    </a:p>
                  </a:txBody>
                  <a:tcPr>
                    <a:solidFill>
                      <a:srgbClr val="131D33"/>
                    </a:solidFill>
                  </a:tcPr>
                </a:tc>
              </a:tr>
              <a:tr h="423949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3B82F6"/>
                          </a:solidFill>
                        </a:defRPr>
                      </a:pPr>
                      <a:r>
                        <a:t>A06</a:t>
                      </a:r>
                    </a:p>
                  </a:txBody>
                  <a:tcPr>
                    <a:solidFill>
                      <a:srgbClr val="131D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CBD5E1"/>
                          </a:solidFill>
                        </a:defRPr>
                      </a:pPr>
                      <a:r>
                        <a:t>Insecure Design (Diseño Inseguro)</a:t>
                      </a:r>
                    </a:p>
                  </a:txBody>
                  <a:tcPr>
                    <a:solidFill>
                      <a:srgbClr val="131D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CBD5E1"/>
                          </a:solidFill>
                        </a:defRPr>
                      </a:pPr>
                      <a:r>
                        <a:t>Bajó del puesto 4 al 6</a:t>
                      </a:r>
                    </a:p>
                  </a:txBody>
                  <a:tcPr>
                    <a:solidFill>
                      <a:srgbClr val="131D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B82F6"/>
                          </a:solidFill>
                        </a:defRPr>
                      </a:pPr>
                      <a:r>
                        <a:t>Lógica de negocio y modelos</a:t>
                      </a:r>
                    </a:p>
                  </a:txBody>
                  <a:tcPr>
                    <a:solidFill>
                      <a:srgbClr val="131D33"/>
                    </a:solidFill>
                  </a:tcPr>
                </a:tc>
              </a:tr>
              <a:tr h="423949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59E0B"/>
                          </a:solidFill>
                        </a:defRPr>
                      </a:pPr>
                      <a:r>
                        <a:t>A07</a:t>
                      </a:r>
                    </a:p>
                  </a:txBody>
                  <a:tcPr>
                    <a:solidFill>
                      <a:srgbClr val="131D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CBD5E1"/>
                          </a:solidFill>
                        </a:defRPr>
                      </a:pPr>
                      <a:r>
                        <a:t>Authentication Failures (Autenticación)</a:t>
                      </a:r>
                    </a:p>
                  </a:txBody>
                  <a:tcPr>
                    <a:solidFill>
                      <a:srgbClr val="131D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CBD5E1"/>
                          </a:solidFill>
                        </a:defRPr>
                      </a:pPr>
                      <a:r>
                        <a:t>Mismo puesto (7), cambió nombre</a:t>
                      </a:r>
                    </a:p>
                  </a:txBody>
                  <a:tcPr>
                    <a:solidFill>
                      <a:srgbClr val="131D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59E0B"/>
                          </a:solidFill>
                        </a:defRPr>
                      </a:pPr>
                      <a:r>
                        <a:t>Credential Stuffing / MFA</a:t>
                      </a:r>
                    </a:p>
                  </a:txBody>
                  <a:tcPr>
                    <a:solidFill>
                      <a:srgbClr val="131D33"/>
                    </a:solidFill>
                  </a:tcPr>
                </a:tc>
              </a:tr>
              <a:tr h="423949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3B82F6"/>
                          </a:solidFill>
                        </a:defRPr>
                      </a:pPr>
                      <a:r>
                        <a:t>A08</a:t>
                      </a:r>
                    </a:p>
                  </a:txBody>
                  <a:tcPr>
                    <a:solidFill>
                      <a:srgbClr val="131D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CBD5E1"/>
                          </a:solidFill>
                        </a:defRPr>
                      </a:pPr>
                      <a:r>
                        <a:t>Software or Data Integrity Failures</a:t>
                      </a:r>
                    </a:p>
                  </a:txBody>
                  <a:tcPr>
                    <a:solidFill>
                      <a:srgbClr val="131D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CBD5E1"/>
                          </a:solidFill>
                        </a:defRPr>
                      </a:pPr>
                      <a:r>
                        <a:t>Mismo puesto (8), cambió nombre</a:t>
                      </a:r>
                    </a:p>
                  </a:txBody>
                  <a:tcPr>
                    <a:solidFill>
                      <a:srgbClr val="131D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B82F6"/>
                          </a:solidFill>
                        </a:defRPr>
                      </a:pPr>
                      <a:r>
                        <a:t>Firmas / Deserialización</a:t>
                      </a:r>
                    </a:p>
                  </a:txBody>
                  <a:tcPr>
                    <a:solidFill>
                      <a:srgbClr val="131D33"/>
                    </a:solidFill>
                  </a:tcPr>
                </a:tc>
              </a:tr>
              <a:tr h="423949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3B82F6"/>
                          </a:solidFill>
                        </a:defRPr>
                      </a:pPr>
                      <a:r>
                        <a:t>A09</a:t>
                      </a:r>
                    </a:p>
                  </a:txBody>
                  <a:tcPr>
                    <a:solidFill>
                      <a:srgbClr val="131D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CBD5E1"/>
                          </a:solidFill>
                        </a:defRPr>
                      </a:pPr>
                      <a:r>
                        <a:t>Security Logging and Alerting Failures</a:t>
                      </a:r>
                    </a:p>
                  </a:txBody>
                  <a:tcPr>
                    <a:solidFill>
                      <a:srgbClr val="131D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CBD5E1"/>
                          </a:solidFill>
                        </a:defRPr>
                      </a:pPr>
                      <a:r>
                        <a:t>Mismo puesto (9), foco en Alertas</a:t>
                      </a:r>
                    </a:p>
                  </a:txBody>
                  <a:tcPr>
                    <a:solidFill>
                      <a:srgbClr val="131D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B82F6"/>
                          </a:solidFill>
                        </a:defRPr>
                      </a:pPr>
                      <a:r>
                        <a:t>Detección temprana</a:t>
                      </a:r>
                    </a:p>
                  </a:txBody>
                  <a:tcPr>
                    <a:solidFill>
                      <a:srgbClr val="131D33"/>
                    </a:solidFill>
                  </a:tcPr>
                </a:tc>
              </a:tr>
              <a:tr h="42395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59E0B"/>
                          </a:solidFill>
                        </a:defRPr>
                      </a:pPr>
                      <a:r>
                        <a:t>A10</a:t>
                      </a:r>
                    </a:p>
                  </a:txBody>
                  <a:tcPr>
                    <a:solidFill>
                      <a:srgbClr val="131D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CBD5E1"/>
                          </a:solidFill>
                        </a:defRPr>
                      </a:pPr>
                      <a:r>
                        <a:t>Mishandling of Exceptional Conditions</a:t>
                      </a:r>
                    </a:p>
                  </a:txBody>
                  <a:tcPr>
                    <a:solidFill>
                      <a:srgbClr val="131D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CBD5E1"/>
                          </a:solidFill>
                        </a:defRPr>
                      </a:pPr>
                      <a:r>
                        <a:t>NUEVA en 2025 (24 debilidades)</a:t>
                      </a:r>
                    </a:p>
                  </a:txBody>
                  <a:tcPr>
                    <a:solidFill>
                      <a:srgbClr val="131D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59E0B"/>
                          </a:solidFill>
                        </a:defRPr>
                      </a:pPr>
                      <a:r>
                        <a:t>Falla abierta / Rollback</a:t>
                      </a:r>
                    </a:p>
                  </a:txBody>
                  <a:tcPr>
                    <a:solidFill>
                      <a:srgbClr val="131D3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108960" cy="320040"/>
          </a:xfrm>
          <a:prstGeom prst="roundRect">
            <a:avLst/>
          </a:prstGeom>
          <a:solidFill>
            <a:srgbClr val="131D33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F4444"/>
                </a:solidFill>
              </a:defRPr>
            </a:pPr>
            <a:r>
              <a:t>PUESTO #1 — RIESGO MÁXIMO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A01: Control de Acceso Defectuoso (Broken Access Control)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6217920" cy="4480560"/>
          </a:xfrm>
          <a:prstGeom prst="roundRect">
            <a:avLst/>
          </a:prstGeom>
          <a:solidFill>
            <a:srgbClr val="131D33"/>
          </a:solidFill>
          <a:ln>
            <a:solidFill>
              <a:srgbClr val="24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1300" b="1">
                <a:solidFill>
                  <a:srgbClr val="EF4444"/>
                </a:solidFill>
              </a:defRPr>
            </a:pPr>
            <a:r>
              <a:t>¿POR QUÉ SIGUE LIDERANDO EL TOP 10?</a:t>
            </a:r>
          </a:p>
          <a:p>
            <a:pPr>
              <a:spcAft>
                <a:spcPts val="800"/>
              </a:spcAft>
              <a:defRPr sz="1150">
                <a:solidFill>
                  <a:srgbClr val="CBD5E1"/>
                </a:solidFill>
              </a:defRPr>
            </a:pPr>
            <a:r>
              <a:t>• Prevalencia Absoluta: El 100% de las aplicaciones analizadas registró fallas en esta categoría.</a:t>
            </a:r>
          </a:p>
          <a:p>
            <a:pPr>
              <a:spcAft>
                <a:spcPts val="800"/>
              </a:spcAft>
              <a:defRPr sz="1150">
                <a:solidFill>
                  <a:srgbClr val="CBD5E1"/>
                </a:solidFill>
              </a:defRPr>
            </a:pPr>
            <a:r>
              <a:t>• Absorción de SSRF: En 2025, Server-Side Request Forgery se integró como defecto de acceso.</a:t>
            </a:r>
          </a:p>
          <a:p>
            <a:pPr>
              <a:spcAft>
                <a:spcPts val="800"/>
              </a:spcAft>
              <a:defRPr sz="1150">
                <a:solidFill>
                  <a:srgbClr val="CBD5E1"/>
                </a:solidFill>
              </a:defRPr>
            </a:pPr>
            <a:r>
              <a:t>• Causa Fundamental: Falta de validación en los verbos POST, PUT y DELETE en APIs REST.</a:t>
            </a:r>
          </a:p>
          <a:p>
            <a:pPr>
              <a:spcAft>
                <a:spcPts val="800"/>
              </a:spcAft>
              <a:defRPr sz="1150">
                <a:solidFill>
                  <a:srgbClr val="CBD5E1"/>
                </a:solidFill>
              </a:defRPr>
            </a:pPr>
            <a:r>
              <a:t>• El Error Clave: Confiar ciegamente en comprobaciones hechas en el navegador o enviar identificadores directos.</a:t>
            </a:r>
          </a:p>
          <a:p>
            <a:pPr>
              <a:spcAft>
                <a:spcPts val="800"/>
              </a:spcAft>
              <a:defRPr sz="1150">
                <a:solidFill>
                  <a:srgbClr val="CBD5E1"/>
                </a:solidFill>
              </a:defRPr>
            </a:pPr>
            <a:r>
              <a:t>• Principio de Menor Privilegio: Si no se deniega el acceso por defecto, la aplicación es vulnerable.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1645920"/>
            <a:ext cx="4206240" cy="4480560"/>
          </a:xfrm>
          <a:prstGeom prst="roundRect">
            <a:avLst/>
          </a:prstGeom>
          <a:solidFill>
            <a:srgbClr val="080C14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spcAft>
                <a:spcPts val="800"/>
              </a:spcAft>
              <a:defRPr sz="1200" b="1">
                <a:solidFill>
                  <a:srgbClr val="F59E0B"/>
                </a:solidFill>
              </a:defRPr>
            </a:pPr>
            <a:r>
              <a:t>ANATOMÍA DE UN ATAQUE IDOR</a:t>
            </a:r>
          </a:p>
          <a:p>
            <a:pPr>
              <a:defRPr sz="1050">
                <a:solidFill>
                  <a:srgbClr val="06B6D4"/>
                </a:solidFill>
              </a:defRPr>
            </a:pPr>
            <a:r>
              <a:t>// 1. Petición del Cliente Manipulada:</a:t>
            </a:r>
            <a:br/>
            <a:r>
              <a:t>GET /api/v1/cuenta?acct=102 HTTP/1.1</a:t>
            </a:r>
            <a:br/>
            <a:r>
              <a:t>Cookie: user_session_id=101 (Juan)</a:t>
            </a:r>
            <a:br/>
            <a:br/>
            <a:r>
              <a:t>// 2. Falla del Backend Vulnerable:</a:t>
            </a:r>
            <a:br/>
            <a:r>
              <a:t>const id = req.query.acct; // Lee 102 directo</a:t>
            </a:r>
            <a:br/>
            <a:r>
              <a:t>const data = db.find({ id }); // ¡Sin check!</a:t>
            </a:r>
            <a:br/>
            <a:r>
              <a:t>return res.json(data); // HTTP 200 (Fuga)</a:t>
            </a:r>
            <a:br/>
            <a:br/>
            <a:r>
              <a:t>// 3. Mitigación Obligatoria (RBAC):</a:t>
            </a:r>
            <a:br/>
            <a:r>
              <a:t>if (req.user.acctId !== requestedId) {</a:t>
            </a:r>
            <a:br/>
            <a:r>
              <a:t>  return res.status(403).json({</a:t>
            </a:r>
            <a:br/>
            <a:r>
              <a:t>    error: 'Acceso Denegado'</a:t>
            </a:r>
            <a:br/>
            <a:r>
              <a:t>  });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108960" cy="320040"/>
          </a:xfrm>
          <a:prstGeom prst="roundRect">
            <a:avLst/>
          </a:prstGeom>
          <a:solidFill>
            <a:srgbClr val="131D33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F4444"/>
                </a:solidFill>
              </a:defRPr>
            </a:pPr>
            <a:r>
              <a:t>ASCENSO AL PUESTO #2 — FALLA ESTRUCTURAL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A02: Configuración de Seguridad Incorrecta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480560"/>
          </a:xfrm>
          <a:prstGeom prst="roundRect">
            <a:avLst/>
          </a:prstGeom>
          <a:solidFill>
            <a:srgbClr val="131D33"/>
          </a:solidFill>
          <a:ln>
            <a:solidFill>
              <a:srgbClr val="24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/>
          <a:lstStyle/>
          <a:p>
            <a:pPr algn="ctr">
              <a:spcAft>
                <a:spcPts val="800"/>
              </a:spcAft>
              <a:defRPr sz="1300" b="1">
                <a:solidFill>
                  <a:srgbClr val="EF4444"/>
                </a:solidFill>
              </a:defRPr>
            </a:pPr>
            <a:r>
              <a:t>EL SALTO DEL PUESTO 5 AL 2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100% de prevalencia en los sistemas analizados.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Cambio de paradigma: El comportamiento real depende más de la infraestructura y cloud que del código.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La proliferación de servicios nube y microservicios multiplica los errores humanos en settings.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480560"/>
          </a:xfrm>
          <a:prstGeom prst="roundRect">
            <a:avLst/>
          </a:prstGeom>
          <a:solidFill>
            <a:srgbClr val="131D33"/>
          </a:solidFill>
          <a:ln>
            <a:solidFill>
              <a:srgbClr val="24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/>
          <a:lstStyle/>
          <a:p>
            <a:pPr algn="ctr">
              <a:spcAft>
                <a:spcPts val="800"/>
              </a:spcAft>
              <a:defRPr sz="1300" b="1">
                <a:solidFill>
                  <a:srgbClr val="F59E0B"/>
                </a:solidFill>
              </a:defRPr>
            </a:pPr>
            <a:r>
              <a:t>ERRORES MÁS FRECUENTES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Cuentas y claves por defecto jamás modificadas.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Consolas de administración o endpoints de prueba habilitados en producción.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Ausencia de cabeceras HTTP de seguridad (CSP, HSTS, X-Content-Type).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Stack traces y versiones de frameworks expuestas en mensajes de error públicos.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480560"/>
          </a:xfrm>
          <a:prstGeom prst="roundRect">
            <a:avLst/>
          </a:prstGeom>
          <a:solidFill>
            <a:srgbClr val="131D33"/>
          </a:solidFill>
          <a:ln>
            <a:solidFill>
              <a:srgbClr val="24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/>
          <a:lstStyle/>
          <a:p>
            <a:pPr algn="ctr">
              <a:spcAft>
                <a:spcPts val="800"/>
              </a:spcAft>
              <a:defRPr sz="1300" b="1">
                <a:solidFill>
                  <a:srgbClr val="10B981"/>
                </a:solidFill>
              </a:defRPr>
            </a:pPr>
            <a:r>
              <a:t>HARDENING Y MITIGACIÓN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Adopción de guías de endurecimiento oficiales de NIST y CIS Benchmarks.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Infraestructura como Código (IaC) inmutable y auditada antes del deploy.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Deshabilitar funciones y módulos innecesarios en imágenes de contenedores.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Auditoría continua automatizada comparando contra líneas base.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108960" cy="320040"/>
          </a:xfrm>
          <a:prstGeom prst="roundRect">
            <a:avLst/>
          </a:prstGeom>
          <a:solidFill>
            <a:srgbClr val="131D33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NUEVA CATEGORÍA 2025 (#3)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A03: Fallas en la Cadena de Suministro de Software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2011680"/>
          </a:xfrm>
          <a:prstGeom prst="roundRect">
            <a:avLst/>
          </a:prstGeom>
          <a:solidFill>
            <a:srgbClr val="182541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F59E0B"/>
                </a:solidFill>
              </a:defRPr>
            </a:pPr>
            <a:r>
              <a:t>CASO EMBLEMÁTICO: ATAQUE A SOLARWINDS (2019 - 2020)</a:t>
            </a:r>
          </a:p>
          <a:p>
            <a:pPr>
              <a:lnSpc>
                <a:spcPct val="125000"/>
              </a:lnSpc>
              <a:defRPr sz="1150">
                <a:solidFill>
                  <a:srgbClr val="F1F5F9"/>
                </a:solidFill>
              </a:defRPr>
            </a:pPr>
            <a:r>
              <a:t>Los atacantes no vulneraron la aplicación final del cliente: comprometieron el pipeline de compilación (build system) del proveedor. El software malicioso fue firmado con certificados legítimos y distribuido como actualización oficial, infectando a más de 18.000 organizaciones (incluyendo ministerios de EEUU y gigantes tecnológicos).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212080" cy="2286000"/>
          </a:xfrm>
          <a:prstGeom prst="roundRect">
            <a:avLst/>
          </a:prstGeom>
          <a:solidFill>
            <a:srgbClr val="131D33"/>
          </a:solidFill>
          <a:ln>
            <a:solidFill>
              <a:srgbClr val="24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1200" b="1">
                <a:solidFill>
                  <a:srgbClr val="EF4444"/>
                </a:solidFill>
              </a:defRPr>
            </a:pPr>
            <a:r>
              <a:t>Puntos Ciegos de la Cadena de Suministro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• No escanear dependencias transitivas ('las dependencias de las dependencias').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• Pipelines de CI/CD con menos protección que los servidores de producción.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• Parches aplicados con meses de demora tras publicarse los CVEs.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931920"/>
            <a:ext cx="5212080" cy="2286000"/>
          </a:xfrm>
          <a:prstGeom prst="roundRect">
            <a:avLst/>
          </a:prstGeom>
          <a:solidFill>
            <a:srgbClr val="131D33"/>
          </a:solidFill>
          <a:ln>
            <a:solidFill>
              <a:srgbClr val="24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Controles Defensivos Requeridos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• SBOM (Software Bill of Materials) automatizado en cada release.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• OWASP Dependency-Track y Dependency-Check integrados en CI/CD.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• Monitoreo continuo contra bases públicas de vulnerabilidades (NVD y OSV).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108960" cy="320040"/>
          </a:xfrm>
          <a:prstGeom prst="roundRect">
            <a:avLst/>
          </a:prstGeom>
          <a:solidFill>
            <a:srgbClr val="131D33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B82F6"/>
                </a:solidFill>
              </a:defRPr>
            </a:pPr>
            <a:r>
              <a:t>PUESTO #4 — PROTECCIÓN DE DATOS SENSIBLES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A04: Fallas Criptográficas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480560"/>
          </a:xfrm>
          <a:prstGeom prst="roundRect">
            <a:avLst/>
          </a:prstGeom>
          <a:solidFill>
            <a:srgbClr val="131D33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28600"/>
          <a:lstStyle/>
          <a:p>
            <a:pPr algn="ctr">
              <a:spcAft>
                <a:spcPts val="1000"/>
              </a:spcAft>
              <a:defRPr sz="1400" b="1">
                <a:solidFill>
                  <a:srgbClr val="EF4444"/>
                </a:solidFill>
              </a:defRPr>
            </a:pPr>
            <a:r>
              <a:t>PRÁCTICAS INSEGURAS COMUNES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Uso de algoritmos obsoletos o quebrados (MD5, SHA1, DES).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Generadores de números pseudoaleatorios inadecuados (predictibilidad en tokens de sesión o reset de contraseña).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Tráfico sensible transmitido en HTTP texto plano sin forzar TLS.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Contraseñas hasheadas sin salt o con algoritmos ultrarrápidos vulnerables a fuerza bruta GPU.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Claves y secretos guardados en código fuente o repositorios de control de versiones.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131D33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28600"/>
          <a:lstStyle/>
          <a:p>
            <a:pPr algn="ctr">
              <a:spcAft>
                <a:spcPts val="1000"/>
              </a:spcAft>
              <a:defRPr sz="1400" b="1">
                <a:solidFill>
                  <a:srgbClr val="10B981"/>
                </a:solidFill>
              </a:defRPr>
            </a:pPr>
            <a:r>
              <a:t>ESTÁNDAR CRIPTOGRÁFICO EXIGIDO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Forzar TLS 1.3 en el 100% de los endpoints con cabecera HSTS activa.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Generadores de números pseudoaleatorios criptográficamente seguros (CSPRNG).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Funciones de derivación de claves diseñadas para passwords: Argon2id, bcrypt o PBKDF2.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Gestores de secretos dedicados (HashiCorp Vault, AWS KMS) con rotación automática.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Clasificación formal de datos según su sensibilidad en tránsito y reposo.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108960" cy="320040"/>
          </a:xfrm>
          <a:prstGeom prst="roundRect">
            <a:avLst/>
          </a:prstGeom>
          <a:solidFill>
            <a:srgbClr val="131D33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8B5CF6"/>
                </a:solidFill>
              </a:defRPr>
            </a:pPr>
            <a:r>
              <a:t>PUESTO #5 — MAYOR VOLUMEN DE CVES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A05: Inyección (SQLi, XSS y Comandos)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572000" cy="4480560"/>
          </a:xfrm>
          <a:prstGeom prst="roundRect">
            <a:avLst/>
          </a:prstGeom>
          <a:solidFill>
            <a:srgbClr val="131D33"/>
          </a:solidFill>
          <a:ln>
            <a:solidFill>
              <a:srgbClr val="24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sz="3800" b="1">
                <a:solidFill>
                  <a:srgbClr val="8B5CF6"/>
                </a:solidFill>
              </a:defRPr>
            </a:pPr>
            <a:r>
              <a:t>+44.000</a:t>
            </a:r>
          </a:p>
          <a:p>
            <a:pPr>
              <a:spcAft>
                <a:spcPts val="1200"/>
              </a:spcAft>
              <a:defRPr sz="1200" b="1">
                <a:solidFill>
                  <a:srgbClr val="F1F5F9"/>
                </a:solidFill>
              </a:defRPr>
            </a:pPr>
            <a:r>
              <a:t>CVEs Registrados Históricamente</a:t>
            </a:r>
          </a:p>
          <a:p>
            <a:pPr>
              <a:spcAft>
                <a:spcPts val="600"/>
              </a:spcAft>
              <a:defRPr sz="1080">
                <a:solidFill>
                  <a:srgbClr val="CBD5E1"/>
                </a:solidFill>
              </a:defRPr>
            </a:pPr>
            <a:r>
              <a:t>• XSS (Cross-Site Scripting): Alta frecuencia, baja barrera (+30.000 registros).</a:t>
            </a:r>
          </a:p>
          <a:p>
            <a:pPr>
              <a:spcAft>
                <a:spcPts val="600"/>
              </a:spcAft>
              <a:defRPr sz="1080">
                <a:solidFill>
                  <a:srgbClr val="CBD5E1"/>
                </a:solidFill>
              </a:defRPr>
            </a:pPr>
            <a:r>
              <a:t>• SQL Injection: Menor frecuencia pero con impacto de compromiso total (+14.000 registros).</a:t>
            </a:r>
          </a:p>
          <a:p>
            <a:pPr>
              <a:spcAft>
                <a:spcPts val="600"/>
              </a:spcAft>
              <a:defRPr sz="1080">
                <a:solidFill>
                  <a:srgbClr val="CBD5E1"/>
                </a:solidFill>
              </a:defRPr>
            </a:pPr>
            <a:r>
              <a:t>• Causa Raíz: Enviar datos no confiables directamente a un intérprete (SQL, shell, DOM) sin separar código de datos.</a:t>
            </a:r>
          </a:p>
          <a:p>
            <a:pPr>
              <a:spcAft>
                <a:spcPts val="600"/>
              </a:spcAft>
              <a:defRPr sz="1080">
                <a:solidFill>
                  <a:srgbClr val="CBD5E1"/>
                </a:solidFill>
              </a:defRPr>
            </a:pPr>
            <a:r>
              <a:t>• Variantes: SQL, NoSQL, comandos OS, LDAP y lenguajes de expresión.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0" y="1645920"/>
            <a:ext cx="5852160" cy="4480560"/>
          </a:xfrm>
          <a:prstGeom prst="roundRect">
            <a:avLst/>
          </a:prstGeom>
          <a:solidFill>
            <a:srgbClr val="080C14"/>
          </a:solidFill>
          <a:ln>
            <a:solidFill>
              <a:srgbClr val="24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spcAft>
                <a:spcPts val="1000"/>
              </a:spcAft>
              <a:defRPr sz="1200" b="1">
                <a:solidFill>
                  <a:srgbClr val="06B6D4"/>
                </a:solidFill>
              </a:defRPr>
            </a:pPr>
            <a:r>
              <a:t>CONCATENACIÓN INSEGURA vs PREPARED STATEMENTS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// ❌ CÓDIGO VULNERABLE (Concatenación Dinámica):</a:t>
            </a:r>
            <a:br/>
            <a:r>
              <a:t>const query = 'SELECT * FROM users WHERE user = \'' </a:t>
            </a:r>
            <a:br/>
            <a:r>
              <a:t>              + userInput + '\' AND pass = \'' + passInput + '\'';</a:t>
            </a:r>
            <a:br/>
            <a:br/>
            <a:r>
              <a:t>// Si el atacante envía: ' OR '1'='1</a:t>
            </a:r>
            <a:br/>
            <a:r>
              <a:t>// La consulta se transforma en:</a:t>
            </a:r>
            <a:br/>
            <a:r>
              <a:t>// WHERE user = '' OR '1'='1' (¡Verdadero para todas las filas!)</a:t>
            </a:r>
            <a:br/>
            <a:br/>
            <a:r>
              <a:t>// --------------------------------------------------</a:t>
            </a:r>
            <a:br/>
            <a:br/>
            <a:r>
              <a:t>// ✅ CÓDIGO SEGURO (Sentencia Parametrizada):</a:t>
            </a:r>
            <a:br/>
            <a:r>
              <a:t>const sql = 'SELECT * FROM users WHERE user = ? AND pass = ?';</a:t>
            </a:r>
            <a:br/>
            <a:r>
              <a:t>const [rows] = await db.execute(sql, [userInput, passInput]);</a:t>
            </a:r>
            <a:br/>
            <a:br/>
            <a:r>
              <a:t>// El motor compila el árbol sintáctico ANTES de recibir los datos.</a:t>
            </a:r>
            <a:br/>
            <a:r>
              <a:t>// El payload es tratado como texto literal inofensivo.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108960" cy="320040"/>
          </a:xfrm>
          <a:prstGeom prst="roundRect">
            <a:avLst/>
          </a:prstGeom>
          <a:solidFill>
            <a:srgbClr val="131D33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8B5CF6"/>
                </a:solidFill>
              </a:defRPr>
            </a:pPr>
            <a:r>
              <a:t>PUESTO #6 — PRINCIPIO 'CONCEPTOS &gt; CÓDIGO'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A06: Diseño Inseguro (Insecure Design)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188720"/>
          </a:xfrm>
          <a:prstGeom prst="roundRect">
            <a:avLst/>
          </a:prstGeom>
          <a:solidFill>
            <a:srgbClr val="182541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82880"/>
          <a:lstStyle/>
          <a:p>
            <a:pPr algn="ctr">
              <a:defRPr sz="1600" b="1">
                <a:solidFill>
                  <a:srgbClr val="F1F5F9"/>
                </a:solidFill>
              </a:defRPr>
            </a:pPr>
            <a:r>
              <a:t>«Un diseño inseguro no se soluciona con una implementación perfecta de código.»</a:t>
            </a:r>
          </a:p>
          <a:p>
            <a:pPr>
              <a:spcBef>
                <a:spcPts val="400"/>
              </a:spcBef>
              <a:defRPr sz="1100">
                <a:solidFill>
                  <a:srgbClr val="06B6D4"/>
                </a:solidFill>
              </a:defRPr>
            </a:pPr>
            <a:r>
              <a:t>Si los controles de seguridad nunca fueron concebidos en la arquitectura, la ausencia de bugs no evitará el ataque.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08960"/>
            <a:ext cx="5212080" cy="3017520"/>
          </a:xfrm>
          <a:prstGeom prst="roundRect">
            <a:avLst/>
          </a:prstGeom>
          <a:solidFill>
            <a:srgbClr val="131D33"/>
          </a:solidFill>
          <a:ln>
            <a:solidFill>
              <a:srgbClr val="24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spcAft>
                <a:spcPts val="800"/>
              </a:spcAft>
              <a:defRPr sz="1300" b="1">
                <a:solidFill>
                  <a:srgbClr val="F59E0B"/>
                </a:solidFill>
              </a:defRPr>
            </a:pPr>
            <a:r>
              <a:t>Ejemplo Real: Lógica de Reserva en Cines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Descuento grupal habilitado a partir de 15 personas.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Un atacante reserva 600 asientos en todas las funciones con pocas peticiones legítimas.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Provoca una pérdida millonaria al bloquear ventas genuinas.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La implementación técnica no tenía ningún bug de código; la falla fue puramente de diseño del negocio.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108960"/>
            <a:ext cx="5212080" cy="3017520"/>
          </a:xfrm>
          <a:prstGeom prst="roundRect">
            <a:avLst/>
          </a:prstGeom>
          <a:solidFill>
            <a:srgbClr val="131D33"/>
          </a:solidFill>
          <a:ln>
            <a:solidFill>
              <a:srgbClr val="24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spcAft>
                <a:spcPts val="800"/>
              </a:spcAft>
              <a:defRPr sz="1300" b="1">
                <a:solidFill>
                  <a:srgbClr val="10B981"/>
                </a:solidFill>
              </a:defRPr>
            </a:pPr>
            <a:r>
              <a:t>Estrategias de Diseño Seguro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Modelado de Amenazas (Threat Modeling) previo al inicio de desarrollo.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Definición explícita de Casos de Abuso (Abuse Cases) junto a las historias de usuario.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Límites de tasa de negocio (Rate Limiting en reservas, no solo en endpoints).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Adopción del modelo de madurez de software seguro OWASP SAMM.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108960" cy="320040"/>
          </a:xfrm>
          <a:prstGeom prst="roundRect">
            <a:avLst/>
          </a:prstGeom>
          <a:solidFill>
            <a:srgbClr val="131D33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PUESTOS #7 Y #8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A07: Autenticación &amp; A08: Integridad de Software y Datos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480560"/>
          </a:xfrm>
          <a:prstGeom prst="roundRect">
            <a:avLst/>
          </a:prstGeom>
          <a:solidFill>
            <a:srgbClr val="131D33"/>
          </a:solidFill>
          <a:ln>
            <a:solidFill>
              <a:srgbClr val="24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spcAft>
                <a:spcPts val="1000"/>
              </a:spcAft>
              <a:defRPr sz="1300" b="1">
                <a:solidFill>
                  <a:srgbClr val="F59E0B"/>
                </a:solidFill>
              </a:defRPr>
            </a:pPr>
            <a:r>
              <a:t>A07: FALLAS DE AUTENTICACIÓN</a:t>
            </a:r>
          </a:p>
          <a:p>
            <a:pPr>
              <a:spcAft>
                <a:spcPts val="800"/>
              </a:spcAft>
              <a:defRPr sz="1100">
                <a:solidFill>
                  <a:srgbClr val="CBD5E1"/>
                </a:solidFill>
              </a:defRPr>
            </a:pPr>
            <a:r>
              <a:t>• 36 grupos de debilidades asociadas en el reporte 2025.</a:t>
            </a:r>
          </a:p>
          <a:p>
            <a:pPr>
              <a:spcAft>
                <a:spcPts val="800"/>
              </a:spcAft>
              <a:defRPr sz="1100">
                <a:solidFill>
                  <a:srgbClr val="CBD5E1"/>
                </a:solidFill>
              </a:defRPr>
            </a:pPr>
            <a:r>
              <a:t>• Ataques de Fuerza Bruta y Credential Stuffing automatizados.</a:t>
            </a:r>
          </a:p>
          <a:p>
            <a:pPr>
              <a:spcAft>
                <a:spcPts val="800"/>
              </a:spcAft>
              <a:defRPr sz="1100">
                <a:solidFill>
                  <a:srgbClr val="CBD5E1"/>
                </a:solidFill>
              </a:defRPr>
            </a:pPr>
            <a:r>
              <a:t>• Patrón de contraseñas predecibles: de 'Winter2025' a 'Winter2026!' tras filtraciones.</a:t>
            </a:r>
          </a:p>
          <a:p>
            <a:pPr>
              <a:spcAft>
                <a:spcPts val="800"/>
              </a:spcAft>
              <a:defRPr sz="1100">
                <a:solidFill>
                  <a:srgbClr val="CBD5E1"/>
                </a:solidFill>
              </a:defRPr>
            </a:pPr>
            <a:r>
              <a:t>• Sin bloqueo progresivo, el servidor opera como un 'oráculo' que valida credenciales robadas.</a:t>
            </a:r>
          </a:p>
          <a:p>
            <a:pPr>
              <a:spcAft>
                <a:spcPts val="800"/>
              </a:spcAft>
              <a:defRPr sz="1100">
                <a:solidFill>
                  <a:srgbClr val="CBD5E1"/>
                </a:solidFill>
              </a:defRPr>
            </a:pPr>
            <a:r>
              <a:t>• Mitigación: Pautas NIST 800-63b, retrasos exponenciales y MFA (Autenticación Multifactor) obligatorio.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131D33"/>
          </a:solidFill>
          <a:ln>
            <a:solidFill>
              <a:srgbClr val="24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spcAft>
                <a:spcPts val="1000"/>
              </a:spcAft>
              <a:defRPr sz="1300" b="1">
                <a:solidFill>
                  <a:srgbClr val="3B82F6"/>
                </a:solidFill>
              </a:defRPr>
            </a:pPr>
            <a:r>
              <a:t>A08: INTEGRIDAD DE SOFTWARE O DATOS</a:t>
            </a:r>
          </a:p>
          <a:p>
            <a:pPr>
              <a:spcAft>
                <a:spcPts val="800"/>
              </a:spcAft>
              <a:defRPr sz="1100">
                <a:solidFill>
                  <a:srgbClr val="CBD5E1"/>
                </a:solidFill>
              </a:defRPr>
            </a:pPr>
            <a:r>
              <a:t>• Asumir que código o artefactos externos son seguros sin validación criptográfica.</a:t>
            </a:r>
          </a:p>
          <a:p>
            <a:pPr>
              <a:spcAft>
                <a:spcPts val="800"/>
              </a:spcAft>
              <a:defRPr sz="1100">
                <a:solidFill>
                  <a:srgbClr val="CBD5E1"/>
                </a:solidFill>
              </a:defRPr>
            </a:pPr>
            <a:r>
              <a:t>• Plugins o módulos importados de CDN no confiables.</a:t>
            </a:r>
          </a:p>
          <a:p>
            <a:pPr>
              <a:spcAft>
                <a:spcPts val="800"/>
              </a:spcAft>
              <a:defRPr sz="1100">
                <a:solidFill>
                  <a:srgbClr val="CBD5E1"/>
                </a:solidFill>
              </a:defRPr>
            </a:pPr>
            <a:r>
              <a:t>• Actualizaciones automáticas aplicadas sin verificar firmas digitales.</a:t>
            </a:r>
          </a:p>
          <a:p>
            <a:pPr>
              <a:spcAft>
                <a:spcPts val="800"/>
              </a:spcAft>
              <a:defRPr sz="1100">
                <a:solidFill>
                  <a:srgbClr val="CBD5E1"/>
                </a:solidFill>
              </a:defRPr>
            </a:pPr>
            <a:r>
              <a:t>• Deserialización Insegura: Modificación de objetos serializados que permite ejecución de código remoto (RCE).</a:t>
            </a:r>
          </a:p>
          <a:p>
            <a:pPr>
              <a:spcAft>
                <a:spcPts val="800"/>
              </a:spcAft>
              <a:defRPr sz="1100">
                <a:solidFill>
                  <a:srgbClr val="CBD5E1"/>
                </a:solidFill>
              </a:defRPr>
            </a:pPr>
            <a:r>
              <a:t>• Mitigación: Firmas digitales, verificación de hashes de integridad y escáneres estáticos de deserialización.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108960" cy="320040"/>
          </a:xfrm>
          <a:prstGeom prst="roundRect">
            <a:avLst/>
          </a:prstGeom>
          <a:solidFill>
            <a:srgbClr val="131D33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PUESTOS #9 Y #10 (NUEVA CATEGORÍA)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A09: Fallas de Registro y Alertas &amp; A10: Condiciones Excepcionales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480560"/>
          </a:xfrm>
          <a:prstGeom prst="roundRect">
            <a:avLst/>
          </a:prstGeom>
          <a:solidFill>
            <a:srgbClr val="131D33"/>
          </a:solidFill>
          <a:ln>
            <a:solidFill>
              <a:srgbClr val="24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spcAft>
                <a:spcPts val="1000"/>
              </a:spcAft>
              <a:defRPr sz="1300" b="1">
                <a:solidFill>
                  <a:srgbClr val="3B82F6"/>
                </a:solidFill>
              </a:defRPr>
            </a:pPr>
            <a:r>
              <a:t>A09: DE 'MONITOREO' A 'ALERTAS'</a:t>
            </a:r>
          </a:p>
          <a:p>
            <a:pPr>
              <a:spcAft>
                <a:spcPts val="800"/>
              </a:spcAft>
              <a:defRPr sz="1100">
                <a:solidFill>
                  <a:srgbClr val="CBD5E1"/>
                </a:solidFill>
              </a:defRPr>
            </a:pPr>
            <a:r>
              <a:t>• Un registro pasivo no detiene ataques: si no hay alertas en tiempo real, las intrusiones pasan inadvertidas.</a:t>
            </a:r>
          </a:p>
          <a:p>
            <a:pPr>
              <a:spcAft>
                <a:spcPts val="800"/>
              </a:spcAft>
              <a:defRPr sz="1100">
                <a:solidFill>
                  <a:srgbClr val="CBD5E1"/>
                </a:solidFill>
              </a:defRPr>
            </a:pPr>
            <a:r>
              <a:t>• Caso Real: Aseguradora de salud infantil con filtración no detectada durante más de 7 años (3.5 millones de niños expuestos).</a:t>
            </a:r>
          </a:p>
          <a:p>
            <a:pPr>
              <a:spcAft>
                <a:spcPts val="800"/>
              </a:spcAft>
              <a:defRPr sz="1100">
                <a:solidFill>
                  <a:srgbClr val="CBD5E1"/>
                </a:solidFill>
              </a:defRPr>
            </a:pPr>
            <a:r>
              <a:t>• Honeytokens: Trampas con cebos sintéticos que disparan alertas con tasa casi cero de falsos positivos.</a:t>
            </a:r>
          </a:p>
          <a:p>
            <a:pPr>
              <a:spcAft>
                <a:spcPts val="800"/>
              </a:spcAft>
              <a:defRPr sz="1100">
                <a:solidFill>
                  <a:srgbClr val="CBD5E1"/>
                </a:solidFill>
              </a:defRPr>
            </a:pPr>
            <a:r>
              <a:t>• Herramientas: Pila ELK (Elasticsearch, Logstash, Kibana) y planes de respuesta a incidentes NIST 800-61.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131D33"/>
          </a:solidFill>
          <a:ln>
            <a:solidFill>
              <a:srgbClr val="24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spcAft>
                <a:spcPts val="1000"/>
              </a:spcAft>
              <a:defRPr sz="1300" b="1">
                <a:solidFill>
                  <a:srgbClr val="EF4444"/>
                </a:solidFill>
              </a:defRPr>
            </a:pPr>
            <a:r>
              <a:t>A10: MAL MANEJO DE CONDICIONES EXCEPCIONALES (NUEVA)</a:t>
            </a:r>
          </a:p>
          <a:p>
            <a:pPr>
              <a:spcAft>
                <a:spcPts val="800"/>
              </a:spcAft>
              <a:defRPr sz="1100">
                <a:solidFill>
                  <a:srgbClr val="CBD5E1"/>
                </a:solidFill>
              </a:defRPr>
            </a:pPr>
            <a:r>
              <a:t>• Nueva categoría en 2025: 24 debilidades orientadas a fallas lógicas y errores no controlados.</a:t>
            </a:r>
          </a:p>
          <a:p>
            <a:pPr>
              <a:spcAft>
                <a:spcPts val="800"/>
              </a:spcAft>
              <a:defRPr sz="1100">
                <a:solidFill>
                  <a:srgbClr val="CBD5E1"/>
                </a:solidFill>
              </a:defRPr>
            </a:pPr>
            <a:r>
              <a:t>• Falla Abierta: Cuando el sistema ante una excepción queda en un estado inesperado que otorga acceso.</a:t>
            </a:r>
          </a:p>
          <a:p>
            <a:pPr>
              <a:spcAft>
                <a:spcPts val="800"/>
              </a:spcAft>
              <a:defRPr sz="1100">
                <a:solidFill>
                  <a:srgbClr val="CBD5E1"/>
                </a:solidFill>
              </a:defRPr>
            </a:pPr>
            <a:r>
              <a:t>• Caso Transaccional: Débito en origen, crédito en destino y log. Si se interrumpe a mitad de camino sin rollback, se vulnera la consistencia financiera.</a:t>
            </a:r>
          </a:p>
          <a:p>
            <a:pPr>
              <a:spcAft>
                <a:spcPts val="800"/>
              </a:spcAft>
              <a:defRPr sz="1100">
                <a:solidFill>
                  <a:srgbClr val="CBD5E1"/>
                </a:solidFill>
              </a:defRPr>
            </a:pPr>
            <a:r>
              <a:t>• Mitigación: Manejadores globales centralizados de excepciones, transacciones atómicas y límites de tasa/cuotas.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108960" cy="320040"/>
          </a:xfrm>
          <a:prstGeom prst="roundRect">
            <a:avLst/>
          </a:prstGeom>
          <a:solidFill>
            <a:srgbClr val="131D33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CIERRE DEL TRABAJO PRÁCTICO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Conclusiones del Estudio &amp; Demostración Práctica en Vivo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480560"/>
          </a:xfrm>
          <a:prstGeom prst="roundRect">
            <a:avLst/>
          </a:prstGeom>
          <a:solidFill>
            <a:srgbClr val="131D33"/>
          </a:solidFill>
          <a:ln>
            <a:solidFill>
              <a:srgbClr val="24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spcAft>
                <a:spcPts val="1000"/>
              </a:spcAft>
              <a:defRPr sz="1300" b="1">
                <a:solidFill>
                  <a:srgbClr val="06B6D4"/>
                </a:solidFill>
              </a:defRPr>
            </a:pPr>
            <a:r>
              <a:t>CONCLUSIONES DE LA INVESTIGACIÓN</a:t>
            </a:r>
          </a:p>
          <a:p>
            <a:pPr>
              <a:spcAft>
                <a:spcPts val="800"/>
              </a:spcAft>
              <a:defRPr sz="1100">
                <a:solidFill>
                  <a:srgbClr val="CBD5E1"/>
                </a:solidFill>
              </a:defRPr>
            </a:pPr>
            <a:r>
              <a:t>• 1. La seguridad no es una etapa final: debe integrarse por diseño desde la concepción de la arquitectura.</a:t>
            </a:r>
          </a:p>
          <a:p>
            <a:pPr>
              <a:spcAft>
                <a:spcPts val="800"/>
              </a:spcAft>
              <a:defRPr sz="1100">
                <a:solidFill>
                  <a:srgbClr val="CBD5E1"/>
                </a:solidFill>
              </a:defRPr>
            </a:pPr>
            <a:r>
              <a:t>• 2. La automatización de los atacantes exige defensas automáticas (CI/CD con SAST/DAST, SBOM y alertas).</a:t>
            </a:r>
          </a:p>
          <a:p>
            <a:pPr>
              <a:spcAft>
                <a:spcPts val="800"/>
              </a:spcAft>
              <a:defRPr sz="1100">
                <a:solidFill>
                  <a:srgbClr val="CBD5E1"/>
                </a:solidFill>
              </a:defRPr>
            </a:pPr>
            <a:r>
              <a:t>• 3. El código limpio no basta: la configuración cloud y la cadena de suministro son los vectores predominantes.</a:t>
            </a:r>
          </a:p>
          <a:p>
            <a:pPr>
              <a:spcAft>
                <a:spcPts val="800"/>
              </a:spcAft>
              <a:defRPr sz="1100">
                <a:solidFill>
                  <a:srgbClr val="CBD5E1"/>
                </a:solidFill>
              </a:defRPr>
            </a:pPr>
            <a:r>
              <a:t>• 4. El Top 10:2025 demuestra que corregir la causa raíz es el único camino sostenible en la industria.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18254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spcAft>
                <a:spcPts val="1000"/>
              </a:spcAft>
              <a:defRPr sz="1300" b="1">
                <a:solidFill>
                  <a:srgbClr val="10B981"/>
                </a:solidFill>
              </a:defRPr>
            </a:pPr>
            <a:r>
              <a:t>DEMO EN VIVO: SIMULADOR WEB (SeguridadTP)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Plataforma interactiva para visualizar los 3 vectores clave: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• • Demo 1: Manipulación de Objeto Directo (IDOR / A01) con switch Vulnerable vs. RBAC.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• • Demo 2: Inyección SQL (A05) con desglose en vivo del AST y Prepared Statements.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• • Demo 3: Fuerza Bruta / Credential Stuffing (A07) con bloqueo NIST y MFA.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Pipeline animado en tiempo real con medición de latencia y Web Audio API.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Repositorio público: github.com/Vgarzaniti/SeguridadTP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